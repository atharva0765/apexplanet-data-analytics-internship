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Total Sales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827456</c:v>
                </c:pt>
                <c:pt idx="1">
                  <c:v>728377</c:v>
                </c:pt>
                <c:pt idx="2">
                  <c:v>705422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Total Sales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710219</c:v>
                </c:pt>
                <c:pt idx="1">
                  <c:v>669237</c:v>
                </c:pt>
                <c:pt idx="2">
                  <c:v>492646</c:v>
                </c:pt>
                <c:pt idx="3">
                  <c:v>389151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Sum of Sales by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</c:v>
                </c:pt>
              </c:strCache>
            </c:strRef>
          </c:tx>
          <c:spPr>
            <a:solidFill>
              <a:srgbClr val="1F3864"/>
            </a:solidFill>
            <a:ln w="25400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94000</c:v>
                </c:pt>
                <c:pt idx="1">
                  <c:v>59000</c:v>
                </c:pt>
                <c:pt idx="2">
                  <c:v>198000</c:v>
                </c:pt>
                <c:pt idx="3">
                  <c:v>136000</c:v>
                </c:pt>
                <c:pt idx="4">
                  <c:v>154000</c:v>
                </c:pt>
                <c:pt idx="5">
                  <c:v>146000</c:v>
                </c:pt>
                <c:pt idx="6">
                  <c:v>146000</c:v>
                </c:pt>
                <c:pt idx="7">
                  <c:v>154000</c:v>
                </c:pt>
                <c:pt idx="8">
                  <c:v>300000</c:v>
                </c:pt>
                <c:pt idx="9">
                  <c:v>199000</c:v>
                </c:pt>
                <c:pt idx="10">
                  <c:v>350000</c:v>
                </c:pt>
                <c:pt idx="11">
                  <c:v>321000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F3864"/>
            </a:solidFill>
            <a:ln w="25400" cap="flat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121763</c:v>
                </c:pt>
                <c:pt idx="1">
                  <c:v>66700</c:v>
                </c:pt>
                <c:pt idx="2">
                  <c:v>358853</c:v>
                </c:pt>
                <c:pt idx="3">
                  <c:v>200585</c:v>
                </c:pt>
                <c:pt idx="4">
                  <c:v>621258</c:v>
                </c:pt>
                <c:pt idx="5">
                  <c:v>492210</c:v>
                </c:pt>
                <c:pt idx="6">
                  <c:v>235709</c:v>
                </c:pt>
                <c:pt idx="7">
                  <c:v>164174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Business Intelligence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Dataset  |  Task 2  |  Tools: SQL + Power BI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Dound  |  ApexPlanet Software Pvt. Ltd.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D9E1F2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D9E1F2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9,799 (after cleaning)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D9E1F2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– 2018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$22,61,255.41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D9E1F2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(DBeaver) + Power BI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554480" cy="2286000"/>
          </a:xfrm>
          <a:prstGeom prst="rect">
            <a:avLst/>
          </a:prstGeom>
          <a:solidFill>
            <a:srgbClr val="D9E1F2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$22,61,255.41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1097280"/>
            <a:ext cx="1554480" cy="2286000"/>
          </a:xfrm>
          <a:prstGeom prst="rect">
            <a:avLst/>
          </a:prstGeom>
          <a:solidFill>
            <a:srgbClr val="D9E1F2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463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$230.76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4884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097280"/>
            <a:ext cx="1554480" cy="2286000"/>
          </a:xfrm>
          <a:prstGeom prst="rect">
            <a:avLst/>
          </a:prstGeom>
          <a:solidFill>
            <a:srgbClr val="D9E1F2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463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1097280"/>
            <a:ext cx="1554480" cy="2286000"/>
          </a:xfrm>
          <a:prstGeom prst="rect">
            <a:avLst/>
          </a:prstGeom>
          <a:solidFill>
            <a:srgbClr val="D9E1F2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463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$22,638.48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Sales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1097280"/>
            <a:ext cx="1554480" cy="2286000"/>
          </a:xfrm>
          <a:prstGeom prst="rect">
            <a:avLst/>
          </a:prstGeom>
          <a:solidFill>
            <a:srgbClr val="D9E1F2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463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9,799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D9E1F2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Technology category leads revenue despite fewest orders. November is peak sales month.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005840"/>
          <a:ext cx="3200400" cy="182880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01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$8,27,456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$456.40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$7,28,377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Supplies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$7,05,422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$119.38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669280" y="3017520"/>
            <a:ext cx="3200400" cy="1463040"/>
          </a:xfrm>
          <a:prstGeom prst="rect">
            <a:avLst/>
          </a:prstGeom>
          <a:solidFill>
            <a:srgbClr val="D9E1F2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has highest revenue despite fewest orders — premium products!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Supplies: most orders but cheapest avg ($119).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005840"/>
          <a:ext cx="3200400" cy="201168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01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$7,10,219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$226.18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$6,69,237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$240.39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$4,92,646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$216.36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$3,89,151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$243.52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669280" y="3200400"/>
            <a:ext cx="3200400" cy="1280160"/>
          </a:xfrm>
          <a:prstGeom prst="rect">
            <a:avLst/>
          </a:prstGeom>
          <a:solidFill>
            <a:srgbClr val="D9E1F2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leads in total sales ($7,10,219).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has lowest orders but highest avg sales ($243.52).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D9E1F2"/>
          </a:solidFill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November ($3,50,161)   |   Lowest: February ($59,000)   |   Best Quarter: Q4 (Oct-Nov-Dec)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Questions &amp; Answers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640080"/>
                <a:gridCol w="3474720"/>
                <a:gridCol w="411480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Product by Revenue?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 imageCLASS 2200 → $61,599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Region by Sales?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→ $7,10,219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Sales Month?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November → $3,50,161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Customer Segment?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→ $11,48,060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Used Ship Mode?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Class → 5,968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Customer?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Sean Miller → $25,043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Avg Order Value?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Copiers → $2,215 per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 &amp; Correlation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Plot: Sales vs Shipping Duration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Heatmap: Region × Category Sales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840480" cy="201168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Sup.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$2,45,348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$2,17,466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$2,47,404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$2,06,180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$1,99,940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$2,63,116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$1,60,317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$1,63,590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$1,68,739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$1,16,531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$1,24,424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$1,48,195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846320" y="3566160"/>
            <a:ext cx="3840480" cy="731520"/>
          </a:xfrm>
          <a:prstGeom prst="rect">
            <a:avLst/>
          </a:prstGeom>
          <a:solidFill>
            <a:srgbClr val="D9E1F2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4-day shipping = highest orders (2,717). Technology dominates every region.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category generates highest revenue ($8,27,456) despite fewest orders (1,813)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dominates with $7,10,219 in total sales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is peak sales month ($3,50,161) — Q4 is best quarter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drives most revenue ($11,48,060 = 50.7% of total)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shipping is most preferred (5,968 orders = 61%)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customer: Sean Miller with $25,043 in total purchases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 have highest avg order value ($2,215) — premium product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4-day shipping has most orders (2,717) and highest total sales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EDA &amp; Business Intelligence Complete 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 EDA on 9,799 rows of Superstore Sales data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Descriptive Statistics — Category, Region, Segment, Ship Mode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 SQL Business Questions answered using DBeaver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Multivariate Analysis — Scatter Plot + Heatmap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Interactive Power BI Dashboard with 5 pages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Dound  |  ApexPlanet Software Pvt. Ltd.  |  Data Analytics Internship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2026-06-01T08:21:24Z</dcterms:created>
  <dcterms:modified xsi:type="dcterms:W3CDTF">2026-06-01T08:21:24Z</dcterms:modified>
</cp:coreProperties>
</file>